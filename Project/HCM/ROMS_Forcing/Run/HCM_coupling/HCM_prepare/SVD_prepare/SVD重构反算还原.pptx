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8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526" autoAdjust="0"/>
  </p:normalViewPr>
  <p:slideViewPr>
    <p:cSldViewPr snapToGrid="0">
      <p:cViewPr varScale="1">
        <p:scale>
          <a:sx n="58" d="100"/>
          <a:sy n="58" d="100"/>
        </p:scale>
        <p:origin x="154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53543-3ACA-425B-8B28-3E8B20E48833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D41AD-6F52-4C3B-A1A9-C45EEF0CDD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46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lsi.dta</a:t>
            </a:r>
            <a:r>
              <a:rPr lang="en-US" altLang="zh-CN" dirty="0"/>
              <a:t>——mask</a:t>
            </a:r>
            <a:r>
              <a:rPr lang="zh-CN" altLang="en-US" dirty="0"/>
              <a:t>文件，赋值给</a:t>
            </a:r>
            <a:r>
              <a:rPr lang="en-US" altLang="zh-CN" dirty="0"/>
              <a:t>index0</a:t>
            </a:r>
            <a:r>
              <a:rPr lang="zh-CN" altLang="en-US" dirty="0"/>
              <a:t>，用于计算缺测点的位置</a:t>
            </a:r>
            <a:r>
              <a:rPr lang="en-US" altLang="zh-CN" dirty="0"/>
              <a:t>ist1</a:t>
            </a:r>
            <a:r>
              <a:rPr lang="zh-CN" altLang="en-US" dirty="0"/>
              <a:t>、</a:t>
            </a:r>
            <a:r>
              <a:rPr lang="en-US" altLang="zh-CN" dirty="0"/>
              <a:t>ist2</a:t>
            </a:r>
          </a:p>
          <a:p>
            <a:r>
              <a:rPr lang="en-US" altLang="zh-CN" dirty="0"/>
              <a:t>fort.97-month——</a:t>
            </a:r>
            <a:r>
              <a:rPr lang="en-US" altLang="zh-CN" dirty="0" err="1"/>
              <a:t>svd</a:t>
            </a:r>
            <a:r>
              <a:rPr lang="zh-CN" altLang="en-US" dirty="0"/>
              <a:t>重构数据（月模式）</a:t>
            </a:r>
            <a:r>
              <a:rPr lang="da-DK" altLang="zh-CN" dirty="0"/>
              <a:t>arr12,brr12,stdv12,sd12,ud12</a:t>
            </a:r>
            <a:r>
              <a:rPr lang="zh-CN" altLang="en-US" dirty="0"/>
              <a:t>，根据月份计算相应的</a:t>
            </a:r>
            <a:r>
              <a:rPr lang="da-DK" altLang="zh-CN" dirty="0"/>
              <a:t>arr,brr,stdv,sd,ud</a:t>
            </a:r>
          </a:p>
          <a:p>
            <a:r>
              <a:rPr lang="en-US" altLang="zh-CN" dirty="0" err="1"/>
              <a:t>neign</a:t>
            </a:r>
            <a:r>
              <a:rPr lang="en-US" altLang="zh-CN" dirty="0"/>
              <a:t>——</a:t>
            </a:r>
            <a:r>
              <a:rPr lang="zh-CN" altLang="en-US" dirty="0"/>
              <a:t>选取前</a:t>
            </a:r>
            <a:r>
              <a:rPr lang="en-US" altLang="zh-CN" dirty="0" err="1"/>
              <a:t>neign</a:t>
            </a:r>
            <a:r>
              <a:rPr lang="zh-CN" altLang="en-US" dirty="0"/>
              <a:t>个模态用于重构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D69B1-C710-4BF1-BDEE-A5DB0E1EC4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577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FA530-D61A-AFFB-CD5B-F86365102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139319-767C-D445-8A96-B6A1DD70B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3B19F-C6FF-8896-9F43-CB833DAA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D2CE6E-2BB8-EE35-3FF2-32A33858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5A272-AC2B-8F65-2F08-E269564E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11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9C559-CA80-B2BB-0A79-97A627B6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B00D1-762B-C144-5E8E-7A0C02DF7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58F51-322B-2DBA-8909-5605265A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05CF7-3CAB-7F2E-6986-EFDFABC8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07556-54D6-9B8C-B510-449530E0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2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96C54-95E1-519F-BE41-F5F17EC3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4E02DF-ED56-1F77-30A6-CA2708C7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E3D12-FE8F-38D1-9656-27F79DD5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18AB5-7283-D857-AB17-BFFB65AC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CB80C0-C787-03A8-9EB7-6743181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49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06BD1-FABC-985B-EEA0-5D5B1051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F0F6E-AD84-C003-9392-B929B4898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D618C1-4F2C-53C5-8CF2-32A7A5273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C2B05D-F4A3-ECA2-7372-FE608FD9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FB5F1-CDAF-5BD6-CABE-79FE4677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BDAE3-F59C-7747-C716-51B80C65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08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D44DC-76ED-04F9-B482-FB607577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9D4F9F-35A7-A753-D23F-62C49EA69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085CCF-CEE5-FC14-DFE9-676307952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F77124-3872-32E9-D15C-171E5E083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792D77-3513-BA50-EB0E-485EC5828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8D9C8F-22D5-1FAB-9EF4-E1044E5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805B3E-8E94-7172-B64E-9E221A57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C92CCF-5129-FF01-B6C2-8FFF93E2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28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1CCFF-835A-F186-CDD1-1170E89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59F035-0B49-A9EC-4F76-BB06B407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688E0B-0B95-E21A-BFDA-6063A341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0D02B7-F7A5-3E0F-8AE4-E2558816B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24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0CF6B5-6B11-6CC1-CD4F-7B94276D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FC067E-4069-A7DC-7E56-C422452E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65B70C-4EB1-D744-EBEC-58E9DB19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2C839-0AA7-C7DE-93BD-551F9585A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83B84-ABE6-E9D5-9420-B78384B9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1FA061-83E1-D490-D4D4-736CD47B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753040-2ACC-E898-E0ED-B7BAA76E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30B1EB-8422-1AC1-29E1-E0749765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A97AA4-E486-D55E-C2F8-D65E6403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5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140AF-84B5-3D58-3CE8-DB27565B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87C823-80D5-0BA0-13CA-5FDB993AA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53649F-D0BC-5AF8-40AE-509A3A1E5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C54C7D-CE89-09F8-FAFB-5972F1C6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C4D90-64F0-D678-4327-3B07D1D8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39AF9E-D5E5-1310-D222-7021EDF4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37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6E498-A22E-7AF7-44ED-C6DA95C1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55DF25-EB06-0E3B-7912-FF8ABCC87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5ABFE-B2E3-2077-09B2-9CCEB058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D6AAD-5DB1-FEAC-C09F-12EDAB97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71CF6-225D-ECEC-34A9-667FB318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77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72FD65-4D7E-8D6E-8D2F-469F3CA2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C05575-6803-82C4-6942-99CD47153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ADF5C-453F-CFC4-EF88-FB6091A4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C1BDF2-B49B-4EC7-52DD-43FA4870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A26D9-6437-B0DF-47E9-0B3D5FF5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8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C4F7B0-BFCA-C20A-A422-B25FE68B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6C7A9-42E7-2F29-0483-A3AB2A09D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7EC21-489D-A0FF-C21B-50525AA1A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0E4C7-D80C-4403-A730-69E8611E65D2}" type="datetimeFigureOut">
              <a:rPr lang="zh-CN" altLang="en-US" smtClean="0"/>
              <a:t>2022/5/20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748FC-83B6-089E-76D7-CFD7644BA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5127A-9544-9DD7-04AC-B9331514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D176B-B5AD-4711-ACA3-F99B96648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47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9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E6022F-D614-44BA-9D91-054A6B2C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HCM</a:t>
            </a:r>
            <a:r>
              <a:rPr lang="en-US" altLang="zh-CN" sz="4400" baseline="-25000" dirty="0">
                <a:latin typeface="Arial" panose="020B0604020202020204" pitchFamily="34" charset="0"/>
                <a:cs typeface="Arial" panose="020B0604020202020204" pitchFamily="34" charset="0"/>
              </a:rPr>
              <a:t>OGCM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DCA95A-E40E-4B48-9971-FDB01370963C}"/>
              </a:ext>
            </a:extLst>
          </p:cNvPr>
          <p:cNvSpPr txBox="1"/>
          <p:nvPr/>
        </p:nvSpPr>
        <p:spPr>
          <a:xfrm>
            <a:off x="7937309" y="4564643"/>
            <a:ext cx="4254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simple atmospheric model</a:t>
            </a:r>
            <a:endParaRPr lang="zh-CN" altLang="en-US" sz="2800" dirty="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99D6C6B5-04BE-42C2-A49D-F88DF97D3394}"/>
              </a:ext>
            </a:extLst>
          </p:cNvPr>
          <p:cNvSpPr/>
          <p:nvPr/>
        </p:nvSpPr>
        <p:spPr>
          <a:xfrm rot="16200000">
            <a:off x="2463769" y="2375484"/>
            <a:ext cx="321356" cy="841792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393B6A2-7AF0-4118-9FFA-115942B14CEE}"/>
              </a:ext>
            </a:extLst>
          </p:cNvPr>
          <p:cNvSpPr/>
          <p:nvPr/>
        </p:nvSpPr>
        <p:spPr>
          <a:xfrm>
            <a:off x="9594344" y="3111843"/>
            <a:ext cx="284116" cy="123212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C2E89B9C-5C14-4D4C-8E57-3751C19E599A}"/>
              </a:ext>
            </a:extLst>
          </p:cNvPr>
          <p:cNvSpPr/>
          <p:nvPr/>
        </p:nvSpPr>
        <p:spPr>
          <a:xfrm rot="5400000">
            <a:off x="7296254" y="4399705"/>
            <a:ext cx="319978" cy="92405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14BAE09D-0034-4817-9EE4-5CE6B99132E5}"/>
              </a:ext>
            </a:extLst>
          </p:cNvPr>
          <p:cNvSpPr/>
          <p:nvPr/>
        </p:nvSpPr>
        <p:spPr>
          <a:xfrm rot="10800000">
            <a:off x="1329950" y="3111844"/>
            <a:ext cx="284115" cy="1232119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12A3E9-A005-423C-B010-D4732F92FFCE}"/>
              </a:ext>
            </a:extLst>
          </p:cNvPr>
          <p:cNvSpPr txBox="1"/>
          <p:nvPr/>
        </p:nvSpPr>
        <p:spPr>
          <a:xfrm>
            <a:off x="886317" y="2534063"/>
            <a:ext cx="1234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OGCM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418B53-15E4-4D8B-82FF-03046FBC6353}"/>
              </a:ext>
            </a:extLst>
          </p:cNvPr>
          <p:cNvSpPr txBox="1"/>
          <p:nvPr/>
        </p:nvSpPr>
        <p:spPr>
          <a:xfrm>
            <a:off x="194568" y="4564643"/>
            <a:ext cx="3805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total surface wind fields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0C3E7BE-39CC-497B-805D-551C661E9ED1}"/>
                  </a:ext>
                </a:extLst>
              </p:cNvPr>
              <p:cNvSpPr txBox="1"/>
              <p:nvPr/>
            </p:nvSpPr>
            <p:spPr>
              <a:xfrm>
                <a:off x="6006491" y="4641587"/>
                <a:ext cx="10412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𝑖𝑛𝑡𝑒𝑟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0C3E7BE-39CC-497B-805D-551C661E9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491" y="4641587"/>
                <a:ext cx="10412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D99EB1D-5279-4AC1-A7E2-299C24A854B7}"/>
                  </a:ext>
                </a:extLst>
              </p:cNvPr>
              <p:cNvSpPr txBox="1"/>
              <p:nvPr/>
            </p:nvSpPr>
            <p:spPr>
              <a:xfrm>
                <a:off x="9254208" y="2551933"/>
                <a:ext cx="1027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𝑆𝑆𝑇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𝑖𝑛𝑡𝑒𝑟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D99EB1D-5279-4AC1-A7E2-299C24A8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208" y="2551933"/>
                <a:ext cx="1027428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C7310F-2C1B-4DD1-80A7-CA75E19CCA90}"/>
                  </a:ext>
                </a:extLst>
              </p:cNvPr>
              <p:cNvSpPr txBox="1"/>
              <p:nvPr/>
            </p:nvSpPr>
            <p:spPr>
              <a:xfrm>
                <a:off x="5947343" y="2244668"/>
                <a:ext cx="17870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OGCM’s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𝑆𝑆𝑇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𝑐𝑙𝑖𝑚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EC7310F-2C1B-4DD1-80A7-CA75E19CC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343" y="2244668"/>
                <a:ext cx="1787069" cy="369332"/>
              </a:xfrm>
              <a:prstGeom prst="rect">
                <a:avLst/>
              </a:prstGeom>
              <a:blipFill>
                <a:blip r:embed="rId4"/>
                <a:stretch>
                  <a:fillRect l="-3072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下 23">
            <a:extLst>
              <a:ext uri="{FF2B5EF4-FFF2-40B4-BE49-F238E27FC236}">
                <a16:creationId xmlns:a16="http://schemas.microsoft.com/office/drawing/2014/main" id="{DE8A737F-F916-4C4E-A4FF-74FF070391B1}"/>
              </a:ext>
            </a:extLst>
          </p:cNvPr>
          <p:cNvSpPr/>
          <p:nvPr/>
        </p:nvSpPr>
        <p:spPr>
          <a:xfrm rot="16200000">
            <a:off x="7030233" y="1346712"/>
            <a:ext cx="330230" cy="2890457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DB36D0AB-D42D-4D07-87B0-AAD8A10A0D10}"/>
              </a:ext>
            </a:extLst>
          </p:cNvPr>
          <p:cNvSpPr/>
          <p:nvPr/>
        </p:nvSpPr>
        <p:spPr>
          <a:xfrm rot="5400000">
            <a:off x="4886650" y="3845937"/>
            <a:ext cx="319978" cy="200396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7C458B7-BE1A-4323-92D8-11A95D6661F4}"/>
                  </a:ext>
                </a:extLst>
              </p:cNvPr>
              <p:cNvSpPr txBox="1"/>
              <p:nvPr/>
            </p:nvSpPr>
            <p:spPr>
              <a:xfrm>
                <a:off x="4203918" y="4341835"/>
                <a:ext cx="19043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𝑐𝑙𝑖𝑚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7C458B7-BE1A-4323-92D8-11A95D666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918" y="4341835"/>
                <a:ext cx="1904343" cy="369332"/>
              </a:xfrm>
              <a:prstGeom prst="rect">
                <a:avLst/>
              </a:prstGeom>
              <a:blipFill>
                <a:blip r:embed="rId5"/>
                <a:stretch>
                  <a:fillRect l="-288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1BFE438B-E09A-43B1-AB93-63871B91C453}"/>
              </a:ext>
            </a:extLst>
          </p:cNvPr>
          <p:cNvSpPr txBox="1"/>
          <p:nvPr/>
        </p:nvSpPr>
        <p:spPr>
          <a:xfrm>
            <a:off x="3156485" y="2510774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total SST fields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880C3E8-C44B-4062-9760-A3117B0204BA}"/>
                  </a:ext>
                </a:extLst>
              </p:cNvPr>
              <p:cNvSpPr txBox="1"/>
              <p:nvPr/>
            </p:nvSpPr>
            <p:spPr>
              <a:xfrm>
                <a:off x="5924591" y="2962252"/>
                <a:ext cx="2578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𝑖𝑛𝑡𝑒𝑟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𝑆𝑆𝑇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𝑐𝑙𝑖𝑚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880C3E8-C44B-4062-9760-A3117B020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591" y="2962252"/>
                <a:ext cx="2578119" cy="369332"/>
              </a:xfrm>
              <a:prstGeom prst="rect">
                <a:avLst/>
              </a:prstGeom>
              <a:blipFill>
                <a:blip r:embed="rId6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E6CE194-35D1-40D7-8E3E-29009E44D283}"/>
                  </a:ext>
                </a:extLst>
              </p:cNvPr>
              <p:cNvSpPr txBox="1"/>
              <p:nvPr/>
            </p:nvSpPr>
            <p:spPr>
              <a:xfrm>
                <a:off x="4064520" y="5022605"/>
                <a:ext cx="19043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𝑐𝑙𝑖𝑚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𝑖𝑛𝑡𝑒𝑟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E6CE194-35D1-40D7-8E3E-29009E44D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520" y="5022605"/>
                <a:ext cx="190434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28386A83-A8D9-4E7B-843C-B6B55578875D}"/>
              </a:ext>
            </a:extLst>
          </p:cNvPr>
          <p:cNvSpPr/>
          <p:nvPr/>
        </p:nvSpPr>
        <p:spPr>
          <a:xfrm>
            <a:off x="8392008" y="1008248"/>
            <a:ext cx="2404672" cy="695265"/>
          </a:xfrm>
          <a:prstGeom prst="wedgeRectCallout">
            <a:avLst>
              <a:gd name="adj1" fmla="val 2110"/>
              <a:gd name="adj2" fmla="val 16386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</a:t>
            </a:r>
            <a:r>
              <a:rPr lang="en-US" altLang="zh-CN" dirty="0"/>
              <a:t>4</a:t>
            </a:r>
            <a:r>
              <a:rPr lang="zh-CN" altLang="en-US" dirty="0"/>
              <a:t>个月</a:t>
            </a:r>
            <a:r>
              <a:rPr lang="en-US" altLang="zh-CN" dirty="0"/>
              <a:t>Initial kick</a:t>
            </a:r>
            <a:r>
              <a:rPr lang="zh-CN" altLang="en-US" dirty="0"/>
              <a:t>：</a:t>
            </a:r>
            <a:endParaRPr lang="en-US" altLang="zh-CN" dirty="0"/>
          </a:p>
          <a:p>
            <a:pPr algn="ctr"/>
            <a:r>
              <a:rPr lang="en-US" altLang="zh-CN" dirty="0" err="1"/>
              <a:t>sst_anom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63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356ED-3FBE-44B8-8921-6D165ED9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统计型大气模式</a:t>
            </a:r>
            <a:r>
              <a:rPr lang="en-US" altLang="zh-CN" dirty="0"/>
              <a:t>——SVD</a:t>
            </a:r>
            <a:r>
              <a:rPr lang="zh-CN" altLang="en-US" dirty="0"/>
              <a:t>重构</a:t>
            </a:r>
            <a:r>
              <a:rPr lang="en-US" altLang="zh-CN" dirty="0"/>
              <a:t>/</a:t>
            </a:r>
            <a:r>
              <a:rPr lang="zh-CN" altLang="en-US" dirty="0"/>
              <a:t>反算</a:t>
            </a:r>
            <a:r>
              <a:rPr lang="en-US" altLang="zh-CN" dirty="0"/>
              <a:t>/</a:t>
            </a:r>
            <a:r>
              <a:rPr lang="zh-CN" altLang="en-US" dirty="0"/>
              <a:t>还原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89470C-D34E-413F-B3F0-E6F002226A7C}"/>
                  </a:ext>
                </a:extLst>
              </p:cNvPr>
              <p:cNvSpPr txBox="1"/>
              <p:nvPr/>
            </p:nvSpPr>
            <p:spPr>
              <a:xfrm>
                <a:off x="1995146" y="1527599"/>
                <a:ext cx="2017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左场</a:t>
                </a:r>
                <a14:m>
                  <m:oMath xmlns:m="http://schemas.openxmlformats.org/officeDocument/2006/math">
                    <m:r>
                      <a:rPr kumimoji="0" lang="en-US" altLang="zh-CN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89470C-D34E-413F-B3F0-E6F00222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46" y="1527599"/>
                <a:ext cx="20178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DA0D88-CCEA-4AFA-AEE3-D842D86429F8}"/>
                  </a:ext>
                </a:extLst>
              </p:cNvPr>
              <p:cNvSpPr txBox="1"/>
              <p:nvPr/>
            </p:nvSpPr>
            <p:spPr>
              <a:xfrm>
                <a:off x="7035459" y="1621524"/>
                <a:ext cx="2077156" cy="398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右场</a:t>
                </a:r>
                <a14:m>
                  <m:oMath xmlns:m="http://schemas.openxmlformats.org/officeDocument/2006/math">
                    <m:r>
                      <a:rPr kumimoji="0" lang="en-US" altLang="zh-CN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DA0D88-CCEA-4AFA-AEE3-D842D864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459" y="1621524"/>
                <a:ext cx="2077156" cy="398582"/>
              </a:xfrm>
              <a:prstGeom prst="rect">
                <a:avLst/>
              </a:prstGeom>
              <a:blipFill>
                <a:blip r:embed="rId4"/>
                <a:stretch>
                  <a:fillRect t="-7692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825834D-FD5B-44C4-8FC8-7E1661B6ED2D}"/>
              </a:ext>
            </a:extLst>
          </p:cNvPr>
          <p:cNvSpPr txBox="1"/>
          <p:nvPr/>
        </p:nvSpPr>
        <p:spPr>
          <a:xfrm>
            <a:off x="10961651" y="1537791"/>
            <a:ext cx="2077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历史时段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E3D085-6768-40DD-8D1E-F8F8E7C09ADE}"/>
              </a:ext>
            </a:extLst>
          </p:cNvPr>
          <p:cNvSpPr txBox="1"/>
          <p:nvPr/>
        </p:nvSpPr>
        <p:spPr>
          <a:xfrm>
            <a:off x="5864577" y="1975812"/>
            <a:ext cx="196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SVD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0">
                <a:extLst>
                  <a:ext uri="{FF2B5EF4-FFF2-40B4-BE49-F238E27FC236}">
                    <a16:creationId xmlns:a16="http://schemas.microsoft.com/office/drawing/2014/main" id="{36589E78-9EC4-4D3D-ABF2-E415F75945FE}"/>
                  </a:ext>
                </a:extLst>
              </p:cNvPr>
              <p:cNvSpPr txBox="1"/>
              <p:nvPr/>
            </p:nvSpPr>
            <p:spPr>
              <a:xfrm>
                <a:off x="2362200" y="2431537"/>
                <a:ext cx="1964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空间模态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𝑈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0">
                <a:extLst>
                  <a:ext uri="{FF2B5EF4-FFF2-40B4-BE49-F238E27FC236}">
                    <a16:creationId xmlns:a16="http://schemas.microsoft.com/office/drawing/2014/main" id="{36589E78-9EC4-4D3D-ABF2-E415F7594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431537"/>
                <a:ext cx="1964267" cy="369332"/>
              </a:xfrm>
              <a:prstGeom prst="rect">
                <a:avLst/>
              </a:prstGeom>
              <a:blipFill>
                <a:blip r:embed="rId5"/>
                <a:stretch>
                  <a:fillRect l="-2795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0">
                <a:extLst>
                  <a:ext uri="{FF2B5EF4-FFF2-40B4-BE49-F238E27FC236}">
                    <a16:creationId xmlns:a16="http://schemas.microsoft.com/office/drawing/2014/main" id="{EE71F774-14C0-494F-8BDF-63CAFB1FEBF8}"/>
                  </a:ext>
                </a:extLst>
              </p:cNvPr>
              <p:cNvSpPr txBox="1"/>
              <p:nvPr/>
            </p:nvSpPr>
            <p:spPr>
              <a:xfrm>
                <a:off x="2056970" y="3277444"/>
                <a:ext cx="2376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时间序列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文本框 10">
                <a:extLst>
                  <a:ext uri="{FF2B5EF4-FFF2-40B4-BE49-F238E27FC236}">
                    <a16:creationId xmlns:a16="http://schemas.microsoft.com/office/drawing/2014/main" id="{EE71F774-14C0-494F-8BDF-63CAFB1F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970" y="3277444"/>
                <a:ext cx="2376311" cy="369332"/>
              </a:xfrm>
              <a:prstGeom prst="rect">
                <a:avLst/>
              </a:prstGeom>
              <a:blipFill>
                <a:blip r:embed="rId6"/>
                <a:stretch>
                  <a:fillRect l="-205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0">
                <a:extLst>
                  <a:ext uri="{FF2B5EF4-FFF2-40B4-BE49-F238E27FC236}">
                    <a16:creationId xmlns:a16="http://schemas.microsoft.com/office/drawing/2014/main" id="{443BB4E3-B6B1-43B2-8448-DE9B3AE28889}"/>
                  </a:ext>
                </a:extLst>
              </p:cNvPr>
              <p:cNvSpPr txBox="1"/>
              <p:nvPr/>
            </p:nvSpPr>
            <p:spPr>
              <a:xfrm>
                <a:off x="4395364" y="2451191"/>
                <a:ext cx="22464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𝐶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𝑈</m:t>
                      </m:r>
                      <m:sSup>
                        <m:sSupPr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𝛴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e>
                        <m:sup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" name="文本框 10">
                <a:extLst>
                  <a:ext uri="{FF2B5EF4-FFF2-40B4-BE49-F238E27FC236}">
                    <a16:creationId xmlns:a16="http://schemas.microsoft.com/office/drawing/2014/main" id="{443BB4E3-B6B1-43B2-8448-DE9B3AE28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364" y="2451191"/>
                <a:ext cx="22464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0">
                <a:extLst>
                  <a:ext uri="{FF2B5EF4-FFF2-40B4-BE49-F238E27FC236}">
                    <a16:creationId xmlns:a16="http://schemas.microsoft.com/office/drawing/2014/main" id="{358563E5-C5D7-4270-A15A-1CB42AB1FFE0}"/>
                  </a:ext>
                </a:extLst>
              </p:cNvPr>
              <p:cNvSpPr txBox="1"/>
              <p:nvPr/>
            </p:nvSpPr>
            <p:spPr>
              <a:xfrm>
                <a:off x="7442775" y="2434173"/>
                <a:ext cx="1964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空间模态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𝑉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" name="文本框 10">
                <a:extLst>
                  <a:ext uri="{FF2B5EF4-FFF2-40B4-BE49-F238E27FC236}">
                    <a16:creationId xmlns:a16="http://schemas.microsoft.com/office/drawing/2014/main" id="{358563E5-C5D7-4270-A15A-1CB42AB1F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775" y="2434173"/>
                <a:ext cx="1964267" cy="369332"/>
              </a:xfrm>
              <a:prstGeom prst="rect">
                <a:avLst/>
              </a:prstGeom>
              <a:blipFill>
                <a:blip r:embed="rId8"/>
                <a:stretch>
                  <a:fillRect l="-279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0">
                <a:extLst>
                  <a:ext uri="{FF2B5EF4-FFF2-40B4-BE49-F238E27FC236}">
                    <a16:creationId xmlns:a16="http://schemas.microsoft.com/office/drawing/2014/main" id="{200ABE8B-D301-446A-A362-8D0A929D1D92}"/>
                  </a:ext>
                </a:extLst>
              </p:cNvPr>
              <p:cNvSpPr txBox="1"/>
              <p:nvPr/>
            </p:nvSpPr>
            <p:spPr>
              <a:xfrm>
                <a:off x="7153710" y="3277444"/>
                <a:ext cx="2376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时间序列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B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𝑉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8" name="文本框 10">
                <a:extLst>
                  <a:ext uri="{FF2B5EF4-FFF2-40B4-BE49-F238E27FC236}">
                    <a16:creationId xmlns:a16="http://schemas.microsoft.com/office/drawing/2014/main" id="{200ABE8B-D301-446A-A362-8D0A929D1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710" y="3277444"/>
                <a:ext cx="2376311" cy="369332"/>
              </a:xfrm>
              <a:prstGeom prst="rect">
                <a:avLst/>
              </a:prstGeom>
              <a:blipFill>
                <a:blip r:embed="rId9"/>
                <a:stretch>
                  <a:fillRect l="-2314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箭头: 丁字 21">
            <a:extLst>
              <a:ext uri="{FF2B5EF4-FFF2-40B4-BE49-F238E27FC236}">
                <a16:creationId xmlns:a16="http://schemas.microsoft.com/office/drawing/2014/main" id="{62ACE8B6-E23E-4D58-96CD-89C94789F27A}"/>
              </a:ext>
            </a:extLst>
          </p:cNvPr>
          <p:cNvSpPr/>
          <p:nvPr/>
        </p:nvSpPr>
        <p:spPr>
          <a:xfrm flipV="1">
            <a:off x="4608689" y="1660611"/>
            <a:ext cx="2017889" cy="646331"/>
          </a:xfrm>
          <a:prstGeom prst="leftRightUp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56C9BB5-FBA2-4D45-8EDC-E5EB30F767DC}"/>
              </a:ext>
            </a:extLst>
          </p:cNvPr>
          <p:cNvSpPr/>
          <p:nvPr/>
        </p:nvSpPr>
        <p:spPr>
          <a:xfrm>
            <a:off x="2861154" y="2769041"/>
            <a:ext cx="339480" cy="508403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EFF6A632-4B39-413E-8657-6F110A849631}"/>
              </a:ext>
            </a:extLst>
          </p:cNvPr>
          <p:cNvSpPr/>
          <p:nvPr/>
        </p:nvSpPr>
        <p:spPr>
          <a:xfrm rot="5400000">
            <a:off x="4118514" y="2092266"/>
            <a:ext cx="327525" cy="1026023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D03B8353-69FB-4F40-A9E4-B75E77F2694A}"/>
              </a:ext>
            </a:extLst>
          </p:cNvPr>
          <p:cNvSpPr/>
          <p:nvPr/>
        </p:nvSpPr>
        <p:spPr>
          <a:xfrm>
            <a:off x="7955045" y="2769041"/>
            <a:ext cx="257267" cy="521136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97673A43-93DF-4E60-BDA8-519BA64AE523}"/>
              </a:ext>
            </a:extLst>
          </p:cNvPr>
          <p:cNvSpPr/>
          <p:nvPr/>
        </p:nvSpPr>
        <p:spPr>
          <a:xfrm>
            <a:off x="7935763" y="3645232"/>
            <a:ext cx="276549" cy="543516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24563D28-B359-4F4B-9B4F-30CA41EA963F}"/>
              </a:ext>
            </a:extLst>
          </p:cNvPr>
          <p:cNvSpPr/>
          <p:nvPr/>
        </p:nvSpPr>
        <p:spPr>
          <a:xfrm>
            <a:off x="2865817" y="3645231"/>
            <a:ext cx="276549" cy="54351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66C68006-D58D-49B5-9C0C-C2223D549DEE}"/>
              </a:ext>
            </a:extLst>
          </p:cNvPr>
          <p:cNvSpPr/>
          <p:nvPr/>
        </p:nvSpPr>
        <p:spPr>
          <a:xfrm rot="16200000">
            <a:off x="6580553" y="2113998"/>
            <a:ext cx="327525" cy="1026023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10">
                <a:extLst>
                  <a:ext uri="{FF2B5EF4-FFF2-40B4-BE49-F238E27FC236}">
                    <a16:creationId xmlns:a16="http://schemas.microsoft.com/office/drawing/2014/main" id="{40B85B7D-A99A-4D4C-8B92-5F0EAF50011B}"/>
                  </a:ext>
                </a:extLst>
              </p:cNvPr>
              <p:cNvSpPr txBox="1"/>
              <p:nvPr/>
            </p:nvSpPr>
            <p:spPr>
              <a:xfrm>
                <a:off x="1698214" y="4306699"/>
                <a:ext cx="2611754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时间序列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的标准差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stdA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2" name="文本框 10">
                <a:extLst>
                  <a:ext uri="{FF2B5EF4-FFF2-40B4-BE49-F238E27FC236}">
                    <a16:creationId xmlns:a16="http://schemas.microsoft.com/office/drawing/2014/main" id="{40B85B7D-A99A-4D4C-8B92-5F0EAF500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214" y="4306699"/>
                <a:ext cx="2611754" cy="369333"/>
              </a:xfrm>
              <a:prstGeom prst="rect">
                <a:avLst/>
              </a:prstGeom>
              <a:blipFill>
                <a:blip r:embed="rId10"/>
                <a:stretch>
                  <a:fillRect l="-2103" t="-8197" r="-186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10">
                <a:extLst>
                  <a:ext uri="{FF2B5EF4-FFF2-40B4-BE49-F238E27FC236}">
                    <a16:creationId xmlns:a16="http://schemas.microsoft.com/office/drawing/2014/main" id="{E0E54FFF-BD7F-4DDA-AE64-3F090C53DC5C}"/>
                  </a:ext>
                </a:extLst>
              </p:cNvPr>
              <p:cNvSpPr txBox="1"/>
              <p:nvPr/>
            </p:nvSpPr>
            <p:spPr>
              <a:xfrm>
                <a:off x="6810364" y="4306699"/>
                <a:ext cx="2611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时间序列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𝐵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的标准差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stdB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3" name="文本框 10">
                <a:extLst>
                  <a:ext uri="{FF2B5EF4-FFF2-40B4-BE49-F238E27FC236}">
                    <a16:creationId xmlns:a16="http://schemas.microsoft.com/office/drawing/2014/main" id="{E0E54FFF-BD7F-4DDA-AE64-3F090C53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364" y="4306699"/>
                <a:ext cx="2611754" cy="369332"/>
              </a:xfrm>
              <a:prstGeom prst="rect">
                <a:avLst/>
              </a:prstGeom>
              <a:blipFill>
                <a:blip r:embed="rId11"/>
                <a:stretch>
                  <a:fillRect l="-1865" t="-8197" r="-186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箭头: 下 33">
            <a:extLst>
              <a:ext uri="{FF2B5EF4-FFF2-40B4-BE49-F238E27FC236}">
                <a16:creationId xmlns:a16="http://schemas.microsoft.com/office/drawing/2014/main" id="{6DFC08CA-6064-46D2-8635-54502FD49022}"/>
              </a:ext>
            </a:extLst>
          </p:cNvPr>
          <p:cNvSpPr/>
          <p:nvPr/>
        </p:nvSpPr>
        <p:spPr>
          <a:xfrm rot="16200000">
            <a:off x="9238863" y="2088590"/>
            <a:ext cx="275219" cy="1085679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10">
                <a:extLst>
                  <a:ext uri="{FF2B5EF4-FFF2-40B4-BE49-F238E27FC236}">
                    <a16:creationId xmlns:a16="http://schemas.microsoft.com/office/drawing/2014/main" id="{F2405BE3-1264-47B7-A61C-F850DE2A89EE}"/>
                  </a:ext>
                </a:extLst>
              </p:cNvPr>
              <p:cNvSpPr txBox="1"/>
              <p:nvPr/>
            </p:nvSpPr>
            <p:spPr>
              <a:xfrm>
                <a:off x="9705705" y="2436438"/>
                <a:ext cx="1964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𝑉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∗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𝑠𝑡𝑑𝐵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5" name="文本框 10">
                <a:extLst>
                  <a:ext uri="{FF2B5EF4-FFF2-40B4-BE49-F238E27FC236}">
                    <a16:creationId xmlns:a16="http://schemas.microsoft.com/office/drawing/2014/main" id="{F2405BE3-1264-47B7-A61C-F850DE2A8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705" y="2436438"/>
                <a:ext cx="196426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10">
                <a:extLst>
                  <a:ext uri="{FF2B5EF4-FFF2-40B4-BE49-F238E27FC236}">
                    <a16:creationId xmlns:a16="http://schemas.microsoft.com/office/drawing/2014/main" id="{9E2FA5AF-DC19-4326-8994-44BB1F69100C}"/>
                  </a:ext>
                </a:extLst>
              </p:cNvPr>
              <p:cNvSpPr txBox="1"/>
              <p:nvPr/>
            </p:nvSpPr>
            <p:spPr>
              <a:xfrm>
                <a:off x="9863790" y="3277444"/>
                <a:ext cx="1648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l-GR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β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B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𝑠𝑡𝑑𝐵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6" name="文本框 10">
                <a:extLst>
                  <a:ext uri="{FF2B5EF4-FFF2-40B4-BE49-F238E27FC236}">
                    <a16:creationId xmlns:a16="http://schemas.microsoft.com/office/drawing/2014/main" id="{9E2FA5AF-DC19-4326-8994-44BB1F69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90" y="3277444"/>
                <a:ext cx="164809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箭头: 下 36">
            <a:extLst>
              <a:ext uri="{FF2B5EF4-FFF2-40B4-BE49-F238E27FC236}">
                <a16:creationId xmlns:a16="http://schemas.microsoft.com/office/drawing/2014/main" id="{177F8587-4D40-437C-9B94-73EF649C2678}"/>
              </a:ext>
            </a:extLst>
          </p:cNvPr>
          <p:cNvSpPr/>
          <p:nvPr/>
        </p:nvSpPr>
        <p:spPr>
          <a:xfrm rot="16200000">
            <a:off x="9452664" y="3106725"/>
            <a:ext cx="275218" cy="658079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10">
                <a:extLst>
                  <a:ext uri="{FF2B5EF4-FFF2-40B4-BE49-F238E27FC236}">
                    <a16:creationId xmlns:a16="http://schemas.microsoft.com/office/drawing/2014/main" id="{91306325-882F-422A-943F-F35CC742FFDE}"/>
                  </a:ext>
                </a:extLst>
              </p:cNvPr>
              <p:cNvSpPr txBox="1"/>
              <p:nvPr/>
            </p:nvSpPr>
            <p:spPr>
              <a:xfrm>
                <a:off x="-169264" y="2449229"/>
                <a:ext cx="1964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𝑈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∗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𝑠𝑡𝑑𝐴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8" name="文本框 10">
                <a:extLst>
                  <a:ext uri="{FF2B5EF4-FFF2-40B4-BE49-F238E27FC236}">
                    <a16:creationId xmlns:a16="http://schemas.microsoft.com/office/drawing/2014/main" id="{91306325-882F-422A-943F-F35CC742F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264" y="2449229"/>
                <a:ext cx="19642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10">
                <a:extLst>
                  <a:ext uri="{FF2B5EF4-FFF2-40B4-BE49-F238E27FC236}">
                    <a16:creationId xmlns:a16="http://schemas.microsoft.com/office/drawing/2014/main" id="{F7681159-6305-42A6-A0FE-5AC37F8ECE18}"/>
                  </a:ext>
                </a:extLst>
              </p:cNvPr>
              <p:cNvSpPr txBox="1"/>
              <p:nvPr/>
            </p:nvSpPr>
            <p:spPr>
              <a:xfrm>
                <a:off x="-169264" y="3275899"/>
                <a:ext cx="1648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l-G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A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𝑠𝑡𝑑𝐴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9" name="文本框 10">
                <a:extLst>
                  <a:ext uri="{FF2B5EF4-FFF2-40B4-BE49-F238E27FC236}">
                    <a16:creationId xmlns:a16="http://schemas.microsoft.com/office/drawing/2014/main" id="{F7681159-6305-42A6-A0FE-5AC37F8EC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264" y="3275899"/>
                <a:ext cx="1648096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箭头: 下 39">
            <a:extLst>
              <a:ext uri="{FF2B5EF4-FFF2-40B4-BE49-F238E27FC236}">
                <a16:creationId xmlns:a16="http://schemas.microsoft.com/office/drawing/2014/main" id="{7C612C36-55C7-49EF-A127-8E2AFE8E5589}"/>
              </a:ext>
            </a:extLst>
          </p:cNvPr>
          <p:cNvSpPr/>
          <p:nvPr/>
        </p:nvSpPr>
        <p:spPr>
          <a:xfrm rot="5400000">
            <a:off x="1704324" y="2131219"/>
            <a:ext cx="256879" cy="951628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733AFE98-F1FE-4B83-9FA6-7A6FD8E099E1}"/>
              </a:ext>
            </a:extLst>
          </p:cNvPr>
          <p:cNvSpPr/>
          <p:nvPr/>
        </p:nvSpPr>
        <p:spPr>
          <a:xfrm rot="5400000">
            <a:off x="1574975" y="3095109"/>
            <a:ext cx="263970" cy="70002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3CAC9EF-CBD4-4576-AA3B-CBEE7925176A}"/>
              </a:ext>
            </a:extLst>
          </p:cNvPr>
          <p:cNvGrpSpPr/>
          <p:nvPr/>
        </p:nvGrpSpPr>
        <p:grpSpPr>
          <a:xfrm>
            <a:off x="0" y="4880899"/>
            <a:ext cx="13038807" cy="1794921"/>
            <a:chOff x="0" y="4880899"/>
            <a:chExt cx="13038807" cy="179492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BF8D768-B461-465F-863F-70BDA118AA19}"/>
                </a:ext>
              </a:extLst>
            </p:cNvPr>
            <p:cNvSpPr txBox="1"/>
            <p:nvPr/>
          </p:nvSpPr>
          <p:spPr>
            <a:xfrm>
              <a:off x="10961651" y="6183082"/>
              <a:ext cx="2077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预报时段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4249F9E-E952-4A39-B08D-710E97AD29A0}"/>
                    </a:ext>
                  </a:extLst>
                </p:cNvPr>
                <p:cNvSpPr txBox="1"/>
                <p:nvPr/>
              </p:nvSpPr>
              <p:spPr>
                <a:xfrm>
                  <a:off x="7003385" y="6306488"/>
                  <a:ext cx="22578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472C4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右场</a:t>
                  </a:r>
                  <a14:m>
                    <m:oMath xmlns:m="http://schemas.openxmlformats.org/officeDocument/2006/math">
                      <m:r>
                        <a:rPr kumimoji="0" lang="en-US" altLang="zh-CN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CN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𝒚</m:t>
                      </m:r>
                    </m:oMath>
                  </a14:m>
                  <a:endPara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4249F9E-E952-4A39-B08D-710E97AD2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385" y="6306488"/>
                  <a:ext cx="2257847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AE52252-52FF-4666-BF22-59D2FE074DD6}"/>
                    </a:ext>
                  </a:extLst>
                </p:cNvPr>
                <p:cNvSpPr txBox="1"/>
                <p:nvPr/>
              </p:nvSpPr>
              <p:spPr>
                <a:xfrm>
                  <a:off x="1883100" y="6306488"/>
                  <a:ext cx="23763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左场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a14:m>
                  <a:endPara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AE52252-52FF-4666-BF22-59D2FE074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00" y="6306488"/>
                  <a:ext cx="2376311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箭头: 下 41">
              <a:extLst>
                <a:ext uri="{FF2B5EF4-FFF2-40B4-BE49-F238E27FC236}">
                  <a16:creationId xmlns:a16="http://schemas.microsoft.com/office/drawing/2014/main" id="{9F1DA06A-6C52-4C2E-B9CC-43FFF34E3A8C}"/>
                </a:ext>
              </a:extLst>
            </p:cNvPr>
            <p:cNvSpPr/>
            <p:nvPr/>
          </p:nvSpPr>
          <p:spPr>
            <a:xfrm rot="10800000">
              <a:off x="7935763" y="5698224"/>
              <a:ext cx="276549" cy="543516"/>
            </a:xfrm>
            <a:prstGeom prst="downArrow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780640B-C7CF-498A-BA4F-042B79EC07BF}"/>
                    </a:ext>
                  </a:extLst>
                </p:cNvPr>
                <p:cNvSpPr txBox="1"/>
                <p:nvPr/>
              </p:nvSpPr>
              <p:spPr>
                <a:xfrm>
                  <a:off x="7648762" y="5794415"/>
                  <a:ext cx="1805354" cy="372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𝑇</m:t>
                            </m:r>
                          </m:sup>
                        </m:sSub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780640B-C7CF-498A-BA4F-042B79EC0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62" y="5794415"/>
                  <a:ext cx="1805354" cy="372666"/>
                </a:xfrm>
                <a:prstGeom prst="rect">
                  <a:avLst/>
                </a:prstGeom>
                <a:blipFill>
                  <a:blip r:embed="rId1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10">
                  <a:extLst>
                    <a:ext uri="{FF2B5EF4-FFF2-40B4-BE49-F238E27FC236}">
                      <a16:creationId xmlns:a16="http://schemas.microsoft.com/office/drawing/2014/main" id="{DB72709A-CAE7-4D5C-BE8A-3271A9AFCCCD}"/>
                    </a:ext>
                  </a:extLst>
                </p:cNvPr>
                <p:cNvSpPr txBox="1"/>
                <p:nvPr/>
              </p:nvSpPr>
              <p:spPr>
                <a:xfrm>
                  <a:off x="7233600" y="5285676"/>
                  <a:ext cx="23763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472C4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新的时间序列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B</m:t>
                      </m:r>
                    </m:oMath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文本框 10">
                  <a:extLst>
                    <a:ext uri="{FF2B5EF4-FFF2-40B4-BE49-F238E27FC236}">
                      <a16:creationId xmlns:a16="http://schemas.microsoft.com/office/drawing/2014/main" id="{DB72709A-CAE7-4D5C-BE8A-3271A9AFC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3600" y="5285676"/>
                  <a:ext cx="2376311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2314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箭头: 下 45">
              <a:extLst>
                <a:ext uri="{FF2B5EF4-FFF2-40B4-BE49-F238E27FC236}">
                  <a16:creationId xmlns:a16="http://schemas.microsoft.com/office/drawing/2014/main" id="{8DFA2A7D-44F2-4641-AC4F-7D48F7EC4A66}"/>
                </a:ext>
              </a:extLst>
            </p:cNvPr>
            <p:cNvSpPr/>
            <p:nvPr/>
          </p:nvSpPr>
          <p:spPr>
            <a:xfrm>
              <a:off x="2929731" y="5679465"/>
              <a:ext cx="276549" cy="543516"/>
            </a:xfrm>
            <a:prstGeom prst="down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6FC83D9-096F-477F-B309-75D24E4DBDFF}"/>
                    </a:ext>
                  </a:extLst>
                </p:cNvPr>
                <p:cNvSpPr txBox="1"/>
                <p:nvPr/>
              </p:nvSpPr>
              <p:spPr>
                <a:xfrm>
                  <a:off x="1610369" y="5766557"/>
                  <a:ext cx="1805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kumimoji="0" lang="en-US" altLang="zh-C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α</m:t>
                        </m:r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6FC83D9-096F-477F-B309-75D24E4DB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0369" y="5766557"/>
                  <a:ext cx="180535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10">
                  <a:extLst>
                    <a:ext uri="{FF2B5EF4-FFF2-40B4-BE49-F238E27FC236}">
                      <a16:creationId xmlns:a16="http://schemas.microsoft.com/office/drawing/2014/main" id="{791479B2-9E7E-4B05-94CE-9F5A9A92CC78}"/>
                    </a:ext>
                  </a:extLst>
                </p:cNvPr>
                <p:cNvSpPr txBox="1"/>
                <p:nvPr/>
              </p:nvSpPr>
              <p:spPr>
                <a:xfrm>
                  <a:off x="2227568" y="5266917"/>
                  <a:ext cx="23763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新的时间序列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8" name="文本框 10">
                  <a:extLst>
                    <a:ext uri="{FF2B5EF4-FFF2-40B4-BE49-F238E27FC236}">
                      <a16:creationId xmlns:a16="http://schemas.microsoft.com/office/drawing/2014/main" id="{791479B2-9E7E-4B05-94CE-9F5A9A92C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7568" y="5266917"/>
                  <a:ext cx="2376311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2051" t="-983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EFAA0C61-7A6D-4E8E-BE72-89D949092B97}"/>
                </a:ext>
              </a:extLst>
            </p:cNvPr>
            <p:cNvSpPr/>
            <p:nvPr/>
          </p:nvSpPr>
          <p:spPr>
            <a:xfrm rot="5400000">
              <a:off x="4511174" y="4918281"/>
              <a:ext cx="311036" cy="1124903"/>
            </a:xfrm>
            <a:prstGeom prst="down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4AF42D56-92F6-4EC1-925D-8081D6D5CBA3}"/>
                </a:ext>
              </a:extLst>
            </p:cNvPr>
            <p:cNvSpPr/>
            <p:nvPr/>
          </p:nvSpPr>
          <p:spPr>
            <a:xfrm rot="5400000">
              <a:off x="6327573" y="4722838"/>
              <a:ext cx="311039" cy="1501015"/>
            </a:xfrm>
            <a:prstGeom prst="down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BF08B86-9492-445A-BBA2-9753909A1D16}"/>
                    </a:ext>
                  </a:extLst>
                </p:cNvPr>
                <p:cNvSpPr txBox="1"/>
                <p:nvPr/>
              </p:nvSpPr>
              <p:spPr>
                <a:xfrm>
                  <a:off x="3842507" y="4976937"/>
                  <a:ext cx="1805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α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l-GR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β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BF08B86-9492-445A-BBA2-9753909A1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507" y="4976937"/>
                  <a:ext cx="1805354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0E38DA2D-4CF1-4342-ABB0-4A30200872F4}"/>
                    </a:ext>
                  </a:extLst>
                </p:cNvPr>
                <p:cNvSpPr txBox="1"/>
                <p:nvPr/>
              </p:nvSpPr>
              <p:spPr>
                <a:xfrm>
                  <a:off x="4608655" y="5296066"/>
                  <a:ext cx="18053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l-GR" altLang="zh-C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β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0E38DA2D-4CF1-4342-ABB0-4A3020087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655" y="5296066"/>
                  <a:ext cx="1805354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10">
                  <a:extLst>
                    <a:ext uri="{FF2B5EF4-FFF2-40B4-BE49-F238E27FC236}">
                      <a16:creationId xmlns:a16="http://schemas.microsoft.com/office/drawing/2014/main" id="{983B94C9-15A0-4960-865C-7EF00541DAEB}"/>
                    </a:ext>
                  </a:extLst>
                </p:cNvPr>
                <p:cNvSpPr txBox="1"/>
                <p:nvPr/>
              </p:nvSpPr>
              <p:spPr>
                <a:xfrm>
                  <a:off x="5511332" y="4909716"/>
                  <a:ext cx="23763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𝐵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/</m:t>
                        </m:r>
                        <m:sSup>
                          <m:sSup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𝑠𝑡𝑑𝐵</m:t>
                            </m:r>
                          </m:e>
                          <m:sup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5" name="文本框 10">
                  <a:extLst>
                    <a:ext uri="{FF2B5EF4-FFF2-40B4-BE49-F238E27FC236}">
                      <a16:creationId xmlns:a16="http://schemas.microsoft.com/office/drawing/2014/main" id="{983B94C9-15A0-4960-865C-7EF00541D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332" y="4909716"/>
                  <a:ext cx="2376311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229120F-4FFA-4853-8D7D-5A79B0BC6992}"/>
                </a:ext>
              </a:extLst>
            </p:cNvPr>
            <p:cNvCxnSpPr/>
            <p:nvPr/>
          </p:nvCxnSpPr>
          <p:spPr>
            <a:xfrm>
              <a:off x="0" y="4880899"/>
              <a:ext cx="1219200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AC8A29-D07E-4E0D-916F-3B30289AF77B}"/>
                  </a:ext>
                </a:extLst>
              </p:cNvPr>
              <p:cNvSpPr txBox="1"/>
              <p:nvPr/>
            </p:nvSpPr>
            <p:spPr>
              <a:xfrm>
                <a:off x="4700954" y="3275898"/>
                <a:ext cx="1936382" cy="3767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≈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AC8A29-D07E-4E0D-916F-3B30289AF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54" y="3275898"/>
                <a:ext cx="1936382" cy="376765"/>
              </a:xfrm>
              <a:prstGeom prst="rect">
                <a:avLst/>
              </a:prstGeom>
              <a:blipFill>
                <a:blip r:embed="rId25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04C159-DD98-4331-8803-776452360A50}"/>
              </a:ext>
            </a:extLst>
          </p:cNvPr>
          <p:cNvSpPr/>
          <p:nvPr/>
        </p:nvSpPr>
        <p:spPr>
          <a:xfrm>
            <a:off x="-1" y="2431538"/>
            <a:ext cx="4061595" cy="1334280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2F7FE04-5D23-4FCF-B6D0-B67CDE0D9661}"/>
              </a:ext>
            </a:extLst>
          </p:cNvPr>
          <p:cNvSpPr/>
          <p:nvPr/>
        </p:nvSpPr>
        <p:spPr>
          <a:xfrm>
            <a:off x="7230434" y="2383922"/>
            <a:ext cx="4061595" cy="1334280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A41E7DE-1723-4063-B919-A285A6DE4EC0}"/>
              </a:ext>
            </a:extLst>
          </p:cNvPr>
          <p:cNvSpPr/>
          <p:nvPr/>
        </p:nvSpPr>
        <p:spPr>
          <a:xfrm>
            <a:off x="1846393" y="6263877"/>
            <a:ext cx="2257847" cy="411943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C8DBBE5-EDC8-454D-8CE2-90225CC650E6}"/>
              </a:ext>
            </a:extLst>
          </p:cNvPr>
          <p:cNvGrpSpPr/>
          <p:nvPr/>
        </p:nvGrpSpPr>
        <p:grpSpPr>
          <a:xfrm>
            <a:off x="7648762" y="148691"/>
            <a:ext cx="4275786" cy="451873"/>
            <a:chOff x="8239766" y="468004"/>
            <a:chExt cx="2702746" cy="407581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532EFBCF-E64A-43BD-A28E-CEB39B99F976}"/>
                </a:ext>
              </a:extLst>
            </p:cNvPr>
            <p:cNvSpPr/>
            <p:nvPr/>
          </p:nvSpPr>
          <p:spPr>
            <a:xfrm>
              <a:off x="8278118" y="468004"/>
              <a:ext cx="2664394" cy="40758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460B255-FB64-4F20-B465-E2A5249EAE25}"/>
                    </a:ext>
                  </a:extLst>
                </p:cNvPr>
                <p:cNvSpPr txBox="1"/>
                <p:nvPr/>
              </p:nvSpPr>
              <p:spPr>
                <a:xfrm>
                  <a:off x="8239766" y="501998"/>
                  <a:ext cx="2637692" cy="3331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选取</a:t>
                  </a:r>
                  <a14:m>
                    <m:oMath xmlns:m="http://schemas.openxmlformats.org/officeDocument/2006/math"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前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个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模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：</m:t>
                      </m:r>
                    </m:oMath>
                  </a14:m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…+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460B255-FB64-4F20-B465-E2A5249EA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766" y="501998"/>
                  <a:ext cx="2637692" cy="333130"/>
                </a:xfrm>
                <a:prstGeom prst="rect">
                  <a:avLst/>
                </a:prstGeom>
                <a:blipFill>
                  <a:blip r:embed="rId26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A5F53781-EE38-406E-AFAD-CC7ED0D2F065}"/>
              </a:ext>
            </a:extLst>
          </p:cNvPr>
          <p:cNvSpPr txBox="1"/>
          <p:nvPr/>
        </p:nvSpPr>
        <p:spPr>
          <a:xfrm>
            <a:off x="4635499" y="1327900"/>
            <a:ext cx="196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交叉协方差阵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2EE757-9BF2-B2FE-1288-4EE084E9281A}"/>
              </a:ext>
            </a:extLst>
          </p:cNvPr>
          <p:cNvSpPr txBox="1"/>
          <p:nvPr/>
        </p:nvSpPr>
        <p:spPr>
          <a:xfrm>
            <a:off x="12291660" y="2020912"/>
            <a:ext cx="528862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二维转换为一维</a:t>
            </a:r>
            <a:endParaRPr lang="en-US" altLang="zh-CN" dirty="0"/>
          </a:p>
          <a:p>
            <a:r>
              <a:rPr lang="en-US" altLang="zh-CN" dirty="0"/>
              <a:t>w(</a:t>
            </a:r>
            <a:r>
              <a:rPr lang="en-US" altLang="zh-CN" dirty="0" err="1"/>
              <a:t>ind</a:t>
            </a:r>
            <a:r>
              <a:rPr lang="en-US" altLang="zh-CN" dirty="0"/>
              <a:t>)=</a:t>
            </a:r>
            <a:r>
              <a:rPr lang="en-US" altLang="zh-CN" dirty="0" err="1"/>
              <a:t>sst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仅计算海洋点，标准化处理（除以标准差</a:t>
            </a:r>
            <a:r>
              <a:rPr lang="en-US" altLang="zh-CN" dirty="0" err="1"/>
              <a:t>stdB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pl-PL" altLang="zh-CN" dirty="0">
                <a:solidFill>
                  <a:schemeClr val="accent1"/>
                </a:solidFill>
              </a:rPr>
              <a:t>s(i)</a:t>
            </a:r>
            <a:r>
              <a:rPr lang="pl-PL" altLang="zh-CN" dirty="0"/>
              <a:t>=w(ist1(i))/</a:t>
            </a:r>
            <a:r>
              <a:rPr lang="pl-PL" altLang="zh-CN" b="1" dirty="0"/>
              <a:t>sd</a:t>
            </a:r>
            <a:endParaRPr lang="en-US" altLang="zh-CN" b="1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计算新的时间序列</a:t>
            </a:r>
            <a:r>
              <a:rPr lang="en-US" altLang="zh-CN" dirty="0"/>
              <a:t>B</a:t>
            </a:r>
          </a:p>
          <a:p>
            <a:r>
              <a:rPr lang="en-US" altLang="zh-CN" dirty="0"/>
              <a:t>work=</a:t>
            </a:r>
            <a:r>
              <a:rPr lang="en-US" altLang="zh-CN" dirty="0" err="1"/>
              <a:t>work+</a:t>
            </a:r>
            <a:r>
              <a:rPr lang="en-US" altLang="zh-CN" b="1" dirty="0" err="1"/>
              <a:t>arr</a:t>
            </a:r>
            <a:r>
              <a:rPr lang="en-US" altLang="zh-CN" b="1" dirty="0"/>
              <a:t>(</a:t>
            </a:r>
            <a:r>
              <a:rPr lang="en-US" altLang="zh-CN" b="1" dirty="0" err="1">
                <a:solidFill>
                  <a:schemeClr val="accent1"/>
                </a:solidFill>
              </a:rPr>
              <a:t>i</a:t>
            </a:r>
            <a:r>
              <a:rPr lang="en-US" altLang="zh-CN" b="1" dirty="0" err="1"/>
              <a:t>,k,n</a:t>
            </a:r>
            <a:r>
              <a:rPr lang="en-US" altLang="zh-CN" b="1" dirty="0"/>
              <a:t>)*s(</a:t>
            </a:r>
            <a:r>
              <a:rPr lang="en-US" altLang="zh-CN" b="1" dirty="0" err="1"/>
              <a:t>i</a:t>
            </a:r>
            <a:r>
              <a:rPr lang="en-US" altLang="zh-CN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计算新的时间序列</a:t>
            </a:r>
            <a:r>
              <a:rPr lang="en-US" altLang="zh-CN" dirty="0"/>
              <a:t>α1</a:t>
            </a:r>
            <a:endParaRPr lang="da-DK" altLang="zh-CN" dirty="0"/>
          </a:p>
          <a:p>
            <a:r>
              <a:rPr lang="da-DK" altLang="zh-CN" dirty="0"/>
              <a:t>af(k)=work/</a:t>
            </a:r>
            <a:r>
              <a:rPr lang="da-DK" altLang="zh-CN" b="1" dirty="0"/>
              <a:t>stdv(k,n)/stdv(k,n)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计算左场（前</a:t>
            </a:r>
            <a:r>
              <a:rPr lang="en-US" altLang="zh-CN" dirty="0" err="1"/>
              <a:t>neign</a:t>
            </a:r>
            <a:r>
              <a:rPr lang="zh-CN" altLang="en-US" dirty="0"/>
              <a:t>个模累加）</a:t>
            </a:r>
            <a:endParaRPr lang="en-US" altLang="zh-CN" dirty="0"/>
          </a:p>
          <a:p>
            <a:r>
              <a:rPr lang="en-US" altLang="zh-CN" dirty="0"/>
              <a:t>work=</a:t>
            </a:r>
            <a:r>
              <a:rPr lang="en-US" altLang="zh-CN" dirty="0" err="1"/>
              <a:t>work+af</a:t>
            </a:r>
            <a:r>
              <a:rPr lang="en-US" altLang="zh-CN" dirty="0"/>
              <a:t>(l)*</a:t>
            </a:r>
            <a:r>
              <a:rPr lang="en-US" altLang="zh-CN" b="1" dirty="0" err="1"/>
              <a:t>brr</a:t>
            </a:r>
            <a:r>
              <a:rPr lang="en-US" altLang="zh-CN" b="1" dirty="0"/>
              <a:t>(</a:t>
            </a:r>
            <a:r>
              <a:rPr lang="en-US" altLang="zh-CN" b="1" dirty="0" err="1">
                <a:solidFill>
                  <a:schemeClr val="accent1"/>
                </a:solidFill>
              </a:rPr>
              <a:t>i</a:t>
            </a:r>
            <a:r>
              <a:rPr lang="en-US" altLang="zh-CN" b="1" dirty="0" err="1"/>
              <a:t>,l,n</a:t>
            </a:r>
            <a:r>
              <a:rPr lang="en-US" altLang="zh-CN" b="1" dirty="0"/>
              <a:t>)</a:t>
            </a:r>
            <a:endParaRPr lang="en-US" altLang="zh-CN" dirty="0"/>
          </a:p>
          <a:p>
            <a:r>
              <a:rPr lang="en-US" altLang="zh-CN" dirty="0"/>
              <a:t>out(</a:t>
            </a:r>
            <a:r>
              <a:rPr lang="en-US" altLang="zh-CN" dirty="0" err="1"/>
              <a:t>i</a:t>
            </a:r>
            <a:r>
              <a:rPr lang="en-US" altLang="zh-CN" dirty="0"/>
              <a:t>)=work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还原量纲</a:t>
            </a:r>
            <a:endParaRPr lang="en-US" altLang="zh-CN" dirty="0"/>
          </a:p>
          <a:p>
            <a:r>
              <a:rPr lang="en-US" altLang="zh-CN" dirty="0"/>
              <a:t>w(ist2(</a:t>
            </a:r>
            <a:r>
              <a:rPr lang="en-US" altLang="zh-CN" dirty="0" err="1"/>
              <a:t>i</a:t>
            </a:r>
            <a:r>
              <a:rPr lang="en-US" altLang="zh-CN" dirty="0"/>
              <a:t>))=</a:t>
            </a:r>
            <a:r>
              <a:rPr lang="en-US" altLang="zh-CN" dirty="0">
                <a:solidFill>
                  <a:schemeClr val="accent1"/>
                </a:solidFill>
              </a:rPr>
              <a:t>out(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*</a:t>
            </a:r>
            <a:r>
              <a:rPr lang="en-US" altLang="zh-CN" dirty="0" err="1"/>
              <a:t>ud</a:t>
            </a:r>
            <a:r>
              <a:rPr lang="en-US" altLang="zh-CN" dirty="0"/>
              <a:t>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还原成二维场</a:t>
            </a:r>
            <a:endParaRPr lang="en-US" altLang="zh-CN" dirty="0"/>
          </a:p>
          <a:p>
            <a:r>
              <a:rPr lang="pl-PL" altLang="zh-CN" dirty="0"/>
              <a:t>u(i,j)=w(ind)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CA79035-CAC2-6601-4E23-57B8087FC5DF}"/>
              </a:ext>
            </a:extLst>
          </p:cNvPr>
          <p:cNvSpPr txBox="1"/>
          <p:nvPr/>
        </p:nvSpPr>
        <p:spPr>
          <a:xfrm>
            <a:off x="12226069" y="3569"/>
            <a:ext cx="2709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arr12</a:t>
            </a:r>
            <a:r>
              <a:rPr lang="en-US" altLang="zh-CN" dirty="0"/>
              <a:t>	</a:t>
            </a:r>
            <a:r>
              <a:rPr lang="zh-CN" altLang="en-US" dirty="0"/>
              <a:t>(m1,20,np,12)</a:t>
            </a:r>
            <a:endParaRPr lang="en-US" altLang="zh-CN" dirty="0"/>
          </a:p>
          <a:p>
            <a:r>
              <a:rPr lang="zh-CN" altLang="en-US" dirty="0"/>
              <a:t>brr12</a:t>
            </a:r>
            <a:r>
              <a:rPr lang="en-US" altLang="zh-CN" dirty="0"/>
              <a:t>	</a:t>
            </a:r>
            <a:r>
              <a:rPr lang="zh-CN" altLang="en-US" dirty="0"/>
              <a:t>(m2,20,np,12)</a:t>
            </a:r>
            <a:endParaRPr lang="en-US" altLang="zh-CN" dirty="0"/>
          </a:p>
          <a:p>
            <a:r>
              <a:rPr lang="zh-CN" altLang="en-US" dirty="0"/>
              <a:t>stdv12</a:t>
            </a:r>
            <a:r>
              <a:rPr lang="en-US" altLang="zh-CN" dirty="0"/>
              <a:t>	</a:t>
            </a:r>
            <a:r>
              <a:rPr lang="zh-CN" altLang="en-US" dirty="0"/>
              <a:t>(</a:t>
            </a:r>
            <a:r>
              <a:rPr lang="en-US" altLang="zh-CN" dirty="0"/>
              <a:t>      </a:t>
            </a:r>
            <a:r>
              <a:rPr lang="zh-CN" altLang="en-US" dirty="0"/>
              <a:t>20,np,12)</a:t>
            </a:r>
            <a:endParaRPr lang="en-US" altLang="zh-CN" dirty="0"/>
          </a:p>
          <a:p>
            <a:r>
              <a:rPr lang="zh-CN" altLang="en-US" dirty="0"/>
              <a:t>sd12</a:t>
            </a:r>
            <a:r>
              <a:rPr lang="en-US" altLang="zh-CN" dirty="0"/>
              <a:t>	</a:t>
            </a:r>
            <a:r>
              <a:rPr lang="zh-CN" altLang="en-US" dirty="0"/>
              <a:t>(                12)</a:t>
            </a:r>
            <a:endParaRPr lang="en-US" altLang="zh-CN" dirty="0"/>
          </a:p>
          <a:p>
            <a:r>
              <a:rPr lang="zh-CN" altLang="en-US" dirty="0"/>
              <a:t>ud12</a:t>
            </a:r>
            <a:r>
              <a:rPr lang="en-US" altLang="zh-CN" dirty="0"/>
              <a:t>	</a:t>
            </a:r>
            <a:r>
              <a:rPr lang="zh-CN" altLang="en-US" dirty="0"/>
              <a:t>(           np,12)</a:t>
            </a:r>
          </a:p>
        </p:txBody>
      </p:sp>
    </p:spTree>
    <p:extLst>
      <p:ext uri="{BB962C8B-B14F-4D97-AF65-F5344CB8AC3E}">
        <p14:creationId xmlns:p14="http://schemas.microsoft.com/office/powerpoint/2010/main" val="117747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4" grpId="0" animBg="1"/>
      <p:bldP spid="5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410</Words>
  <Application>Microsoft Office PowerPoint</Application>
  <PresentationFormat>宽屏</PresentationFormat>
  <Paragraphs>68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HCMOGCM</vt:lpstr>
      <vt:lpstr>统计型大气模式——SVD重构/反算/还原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混合型耦合模式HCM</dc:title>
  <dc:creator>ZWZ</dc:creator>
  <cp:lastModifiedBy>Yang Yu</cp:lastModifiedBy>
  <cp:revision>7</cp:revision>
  <dcterms:created xsi:type="dcterms:W3CDTF">2022-04-21T04:26:25Z</dcterms:created>
  <dcterms:modified xsi:type="dcterms:W3CDTF">2022-05-20T08:11:10Z</dcterms:modified>
</cp:coreProperties>
</file>